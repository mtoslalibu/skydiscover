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6304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00C2FF"/>
                </a:solidFill>
              </a:rPr>
              <a:t>BLIS Router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14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CDDEE"/>
                </a:solidFill>
              </a:rPr>
              <a:t>Discovering adaptive routing algorithms for LLM inference clusters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FFFFFF"/>
                </a:solidFill>
              </a:rPr>
              <a:t>using SkyDiscover + OpenEvolve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3657600"/>
            <a:ext cx="5760720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DEE"/>
                </a:solidFill>
              </a:rPr>
              <a:t>Experiment:  260312_50i_openevolve_v2wl  •  March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4663440"/>
            <a:ext cx="2651760" cy="1188720"/>
          </a:xfrm>
          <a:prstGeom prst="rect">
            <a:avLst/>
          </a:prstGeom>
          <a:solidFill>
            <a:srgbClr val="162B40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475488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ECC71"/>
                </a:solidFill>
              </a:rPr>
              <a:t>+11.5%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52578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DEE"/>
                </a:solidFill>
              </a:rPr>
              <a:t>vs best hand-tuned baseline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4663440"/>
            <a:ext cx="2651760" cy="1188720"/>
          </a:xfrm>
          <a:prstGeom prst="rect">
            <a:avLst/>
          </a:prstGeom>
          <a:solidFill>
            <a:srgbClr val="162B40"/>
          </a:solidFill>
          <a:ln w="1905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475488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2FF"/>
                </a:solidFill>
              </a:rPr>
              <a:t>+42.0%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52578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DEE"/>
                </a:solidFill>
              </a:rPr>
              <a:t>vs LLQ (common default)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0" y="4663440"/>
            <a:ext cx="2651760" cy="1188720"/>
          </a:xfrm>
          <a:prstGeom prst="rect">
            <a:avLst/>
          </a:prstGeom>
          <a:solidFill>
            <a:srgbClr val="162B40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475488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8C00"/>
                </a:solidFill>
              </a:rPr>
              <a:t>50 iters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52578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DEE"/>
                </a:solidFill>
              </a:rPr>
              <a:t>OpenEvolve search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2FF"/>
                </a:solidFill>
              </a:rPr>
              <a:t>The Problem: Routing in an LLM Inference Cluster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EE"/>
                </a:solidFill>
              </a:rPr>
              <a:t>How do you route requests across instances to minimize latency?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430000" cy="2743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4-Instance Cluster  (qwen2.5-7b / H100)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960120" cy="731520"/>
          </a:xfrm>
          <a:prstGeom prst="rect">
            <a:avLst/>
          </a:prstGeom>
          <a:solidFill>
            <a:srgbClr val="1A3A5C"/>
          </a:solidFill>
          <a:ln w="1270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GPU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EE"/>
                </a:solidFill>
              </a:rPr>
              <a:t>H100</a:t>
            </a:r>
          </a:p>
        </p:txBody>
      </p:sp>
      <p:sp>
        <p:nvSpPr>
          <p:cNvPr id="9" name="Rectangle 8"/>
          <p:cNvSpPr/>
          <p:nvPr/>
        </p:nvSpPr>
        <p:spPr>
          <a:xfrm>
            <a:off x="1572768" y="1691640"/>
            <a:ext cx="960120" cy="731520"/>
          </a:xfrm>
          <a:prstGeom prst="rect">
            <a:avLst/>
          </a:prstGeom>
          <a:solidFill>
            <a:srgbClr val="1A3A5C"/>
          </a:solidFill>
          <a:ln w="1270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72768" y="1737360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GPU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057400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EE"/>
                </a:solidFill>
              </a:rPr>
              <a:t>H100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88336" y="1691640"/>
            <a:ext cx="960120" cy="731520"/>
          </a:xfrm>
          <a:prstGeom prst="rect">
            <a:avLst/>
          </a:prstGeom>
          <a:solidFill>
            <a:srgbClr val="1A3A5C"/>
          </a:solidFill>
          <a:ln w="1270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88336" y="1737360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GPU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88336" y="2057400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EE"/>
                </a:solidFill>
              </a:rPr>
              <a:t>H100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03904" y="1691640"/>
            <a:ext cx="960120" cy="731520"/>
          </a:xfrm>
          <a:prstGeom prst="rect">
            <a:avLst/>
          </a:prstGeom>
          <a:solidFill>
            <a:srgbClr val="1A3A5C"/>
          </a:solidFill>
          <a:ln w="1270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03904" y="1737360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GPU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03904" y="2057400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EE"/>
                </a:solidFill>
              </a:rPr>
              <a:t>H100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1234440"/>
            <a:ext cx="2651760" cy="384048"/>
          </a:xfrm>
          <a:prstGeom prst="rect">
            <a:avLst/>
          </a:prstGeom>
          <a:solidFill>
            <a:srgbClr val="0A253A"/>
          </a:solidFill>
          <a:ln w="1905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126187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2FF"/>
                </a:solidFill>
              </a:rPr>
              <a:t>llm-d  Router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606040"/>
            <a:ext cx="4754880" cy="411480"/>
          </a:xfrm>
          <a:prstGeom prst="rect">
            <a:avLst/>
          </a:prstGeom>
          <a:solidFill>
            <a:srgbClr val="0A1A2A"/>
          </a:solidFill>
          <a:ln w="1905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63347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C2FF"/>
                </a:solidFill>
              </a:rPr>
              <a:t>Each GPU has KV cache  •  Prefix hits = big speedup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12344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700"/>
                </a:solidFill>
              </a:rPr>
              <a:t>Why Routing Matters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169164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169164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Wrong instance: no prefix cache hit — pay full prefill cost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216712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2167128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Hot instance: high InFlightRequests causes queuing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2642616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2642616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KV overflow: memory pressure triggers preemption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3118104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3118104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Naïve load balance ignores prefix locality entirely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32461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Available Signals  (freshness matters!)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657600"/>
            <a:ext cx="2487168" cy="329184"/>
          </a:xfrm>
          <a:prstGeom prst="rect">
            <a:avLst/>
          </a:prstGeom>
          <a:solidFill>
            <a:srgbClr val="10253A"/>
          </a:solidFill>
          <a:ln w="1016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3675887"/>
            <a:ext cx="24140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C2FF"/>
                </a:solidFill>
              </a:rPr>
              <a:t>Signal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71800" y="3657600"/>
            <a:ext cx="1938528" cy="329184"/>
          </a:xfrm>
          <a:prstGeom prst="rect">
            <a:avLst/>
          </a:prstGeom>
          <a:solidFill>
            <a:srgbClr val="10253A"/>
          </a:solidFill>
          <a:ln w="1016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44952" y="3675887"/>
            <a:ext cx="1865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C2FF"/>
                </a:solidFill>
              </a:rPr>
              <a:t>Freshness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0" y="3657600"/>
            <a:ext cx="4315968" cy="329184"/>
          </a:xfrm>
          <a:prstGeom prst="rect">
            <a:avLst/>
          </a:prstGeom>
          <a:solidFill>
            <a:srgbClr val="10253A"/>
          </a:solidFill>
          <a:ln w="1016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02352" y="3675887"/>
            <a:ext cx="4242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C2FF"/>
                </a:solidFill>
              </a:rPr>
              <a:t>Source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023360"/>
            <a:ext cx="2487168" cy="347472"/>
          </a:xfrm>
          <a:prstGeom prst="rect">
            <a:avLst/>
          </a:prstGeom>
          <a:solidFill>
            <a:srgbClr val="162B4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8912" y="4041648"/>
            <a:ext cx="24140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C2FF"/>
                </a:solidFill>
              </a:rPr>
              <a:t>InFlightRequests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71800" y="4023360"/>
            <a:ext cx="1938528" cy="347472"/>
          </a:xfrm>
          <a:prstGeom prst="rect">
            <a:avLst/>
          </a:prstGeom>
          <a:solidFill>
            <a:srgbClr val="162B4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44952" y="4041648"/>
            <a:ext cx="1865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CC71"/>
                </a:solidFill>
              </a:rPr>
              <a:t>FRESH — every request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0" y="4023360"/>
            <a:ext cx="4315968" cy="347472"/>
          </a:xfrm>
          <a:prstGeom prst="rect">
            <a:avLst/>
          </a:prstGeom>
          <a:solidFill>
            <a:srgbClr val="162B4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02352" y="4041648"/>
            <a:ext cx="42428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EE"/>
                </a:solidFill>
              </a:rPr>
              <a:t>Router-local counter, no Prometheus lag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4407408"/>
            <a:ext cx="2487168" cy="347472"/>
          </a:xfrm>
          <a:prstGeom prst="rect">
            <a:avLst/>
          </a:prstGeom>
          <a:solidFill>
            <a:srgbClr val="162B4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8912" y="4425696"/>
            <a:ext cx="24140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C2FF"/>
                </a:solidFill>
              </a:rPr>
              <a:t>KVUtilization / FreeKVBlocks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71800" y="4407408"/>
            <a:ext cx="1938528" cy="347472"/>
          </a:xfrm>
          <a:prstGeom prst="rect">
            <a:avLst/>
          </a:prstGeom>
          <a:solidFill>
            <a:srgbClr val="162B4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044952" y="4425696"/>
            <a:ext cx="1865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D700"/>
                </a:solidFill>
              </a:rPr>
              <a:t>STALE — ~5s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0" y="4407408"/>
            <a:ext cx="4315968" cy="347472"/>
          </a:xfrm>
          <a:prstGeom prst="rect">
            <a:avLst/>
          </a:prstGeom>
          <a:solidFill>
            <a:srgbClr val="162B4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02352" y="4425696"/>
            <a:ext cx="42428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EE"/>
                </a:solidFill>
              </a:rPr>
              <a:t>Prometheus scrape, may lag under burst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4791456"/>
            <a:ext cx="2487168" cy="347472"/>
          </a:xfrm>
          <a:prstGeom prst="rect">
            <a:avLst/>
          </a:prstGeom>
          <a:solidFill>
            <a:srgbClr val="162B4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8912" y="4809744"/>
            <a:ext cx="24140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C2FF"/>
                </a:solidFill>
              </a:rPr>
              <a:t>QueueDepth / BatchSize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971800" y="4791456"/>
            <a:ext cx="1938528" cy="347472"/>
          </a:xfrm>
          <a:prstGeom prst="rect">
            <a:avLst/>
          </a:prstGeom>
          <a:solidFill>
            <a:srgbClr val="162B4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044952" y="4809744"/>
            <a:ext cx="1865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D700"/>
                </a:solidFill>
              </a:rPr>
              <a:t>STALE — ~5s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0" y="4791456"/>
            <a:ext cx="4315968" cy="347472"/>
          </a:xfrm>
          <a:prstGeom prst="rect">
            <a:avLst/>
          </a:prstGeom>
          <a:solidFill>
            <a:srgbClr val="162B4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102352" y="4809744"/>
            <a:ext cx="42428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EE"/>
                </a:solidFill>
              </a:rPr>
              <a:t>Prometheus scrape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5175504"/>
            <a:ext cx="2487168" cy="347472"/>
          </a:xfrm>
          <a:prstGeom prst="rect">
            <a:avLst/>
          </a:prstGeom>
          <a:solidFill>
            <a:srgbClr val="162B4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38912" y="5193792"/>
            <a:ext cx="24140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C2FF"/>
                </a:solidFill>
              </a:rPr>
              <a:t>Prefix-affinity score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971800" y="5175504"/>
            <a:ext cx="1938528" cy="347472"/>
          </a:xfrm>
          <a:prstGeom prst="rect">
            <a:avLst/>
          </a:prstGeom>
          <a:solidFill>
            <a:srgbClr val="162B4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044952" y="5193792"/>
            <a:ext cx="1865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CC71"/>
                </a:solidFill>
              </a:rPr>
              <a:t>FRESH — every request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29200" y="5175504"/>
            <a:ext cx="4315968" cy="347472"/>
          </a:xfrm>
          <a:prstGeom prst="rect">
            <a:avLst/>
          </a:prstGeom>
          <a:solidFill>
            <a:srgbClr val="162B40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102352" y="5193792"/>
            <a:ext cx="42428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EE"/>
                </a:solidFill>
              </a:rPr>
              <a:t>Router-local LRU cache index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2FF"/>
                </a:solidFill>
              </a:rPr>
              <a:t>Initial Program &amp; What We Evolve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EE"/>
                </a:solidFill>
              </a:rPr>
              <a:t>A Go function inside the router that scores every instance for each request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430000" cy="2743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routing.go 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64208"/>
            <a:ext cx="5303520" cy="566928"/>
          </a:xfrm>
          <a:prstGeom prst="rect">
            <a:avLst/>
          </a:prstGeom>
          <a:solidFill>
            <a:srgbClr val="162B40"/>
          </a:solidFill>
          <a:ln w="1016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099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DDEE"/>
                </a:solidFill>
              </a:rPr>
              <a:t>RoundRobin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47672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Uniform round-robin, no load awareness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22576"/>
            <a:ext cx="5303520" cy="566928"/>
          </a:xfrm>
          <a:prstGeom prst="rect">
            <a:avLst/>
          </a:prstGeom>
          <a:solidFill>
            <a:srgbClr val="162B40"/>
          </a:solidFill>
          <a:ln w="1016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6829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DDEE"/>
                </a:solidFill>
              </a:rPr>
              <a:t>LeastLoaded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06039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Minimum InFlightRequests — ignores prefix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980944"/>
            <a:ext cx="5303520" cy="566928"/>
          </a:xfrm>
          <a:prstGeom prst="rect">
            <a:avLst/>
          </a:prstGeom>
          <a:solidFill>
            <a:srgbClr val="162B40"/>
          </a:solidFill>
          <a:ln w="1016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02666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DDEE"/>
                </a:solidFill>
              </a:rPr>
              <a:t>AlwaysBusiest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26440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Pathological test case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639312"/>
            <a:ext cx="5303520" cy="566928"/>
          </a:xfrm>
          <a:prstGeom prst="rect">
            <a:avLst/>
          </a:prstGeom>
          <a:solidFill>
            <a:srgbClr val="0A2510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6850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WeightedScoring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922776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← This is what the LLM evolves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234440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The EVOLVE-BLOCK  (only this changes)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1627632"/>
            <a:ext cx="5943600" cy="4114800"/>
          </a:xfrm>
          <a:prstGeom prst="rect">
            <a:avLst/>
          </a:prstGeom>
          <a:solidFill>
            <a:srgbClr val="081420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0760" y="175564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2FF"/>
                </a:solidFill>
              </a:rPr>
              <a:t>// EVOLVE-BLOCK-START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2020824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228600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// Available per-instance: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2551176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D700"/>
                </a:solidFill>
              </a:rPr>
              <a:t>snap.InFlightRequests   // FRESH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2816352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snap.KVUtilization      // stale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308152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snap.FreeKVBlocks        // stale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3346703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allDimScores[i][snap.ID]  // scorer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3611879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3877056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// Baseline: pure weighted sum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4142231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4D4D"/>
                </a:solidFill>
              </a:rPr>
              <a:t>score += dimScore * weight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440740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4672583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// LLM discovers adaptive logic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4937759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// e.g. decay prefix when hot...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5202936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5468112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2FF"/>
                </a:solidFill>
              </a:rPr>
              <a:t>// EVOLVE-BLOCK-END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6172200"/>
            <a:ext cx="11430000" cy="457200"/>
          </a:xfrm>
          <a:prstGeom prst="rect">
            <a:avLst/>
          </a:prstGeom>
          <a:solidFill>
            <a:srgbClr val="0A2010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6199632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🔒  Only the EVOLVE-BLOCK is mutated. Scorer pipeline, state, and interface stay fixed. Go must compile cleanly. The router is drop-in-replaceable in real llm-d.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2FF"/>
                </a:solidFill>
              </a:rPr>
              <a:t>Evaluation Workloads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EE"/>
                </a:solidFill>
              </a:rPr>
              <a:t>Two realistic traffic profiles — general load and prefix-heavy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430000" cy="2743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806440" cy="5394960"/>
          </a:xfrm>
          <a:prstGeom prst="rect">
            <a:avLst/>
          </a:prstGeom>
          <a:solidFill>
            <a:srgbClr val="162B40"/>
          </a:solidFill>
          <a:ln w="1905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6187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Workload 1: glia_40qps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DEE"/>
                </a:solidFill>
              </a:rPr>
              <a:t>General bursty traffic — 40 QPS, 1000 requests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93392"/>
            <a:ext cx="5486400" cy="713232"/>
          </a:xfrm>
          <a:prstGeom prst="rect">
            <a:avLst/>
          </a:prstGeom>
          <a:solidFill>
            <a:srgbClr val="102235"/>
          </a:solidFill>
          <a:ln w="1016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03911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ShareGPT-like (90%)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295144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2FF"/>
                </a:solidFill>
              </a:rPr>
              <a:t>~500 tok input, ~250 tok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79" y="203911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DEE"/>
                </a:solidFill>
              </a:rPr>
              <a:t>Gamma CV=7.3 (bursty)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816352"/>
            <a:ext cx="5486400" cy="713232"/>
          </a:xfrm>
          <a:prstGeom prst="rect">
            <a:avLst/>
          </a:prstGeom>
          <a:solidFill>
            <a:srgbClr val="102235"/>
          </a:solidFill>
          <a:ln w="1016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286207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Heavy prompt (5%)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118104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D700"/>
                </a:solidFill>
              </a:rPr>
              <a:t>~5000 tok input, ~250 tok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79" y="286207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DEE"/>
                </a:solidFill>
              </a:rPr>
              <a:t>10× longer prompts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639312"/>
            <a:ext cx="5486400" cy="713232"/>
          </a:xfrm>
          <a:prstGeom prst="rect">
            <a:avLst/>
          </a:prstGeom>
          <a:solidFill>
            <a:srgbClr val="102235"/>
          </a:solidFill>
          <a:ln w="1016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368503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Heavy decode (5%)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3941064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8C00"/>
                </a:solidFill>
              </a:rPr>
              <a:t>~500 tok input, ~2500 tok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79" y="368503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DEE"/>
                </a:solidFill>
              </a:rPr>
              <a:t>10× longer decodes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10819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C2FF"/>
                </a:solidFill>
              </a:rPr>
              <a:t>💡 Tests: Load balancing under bursty arrivals. No prefix sharing.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1188720"/>
            <a:ext cx="5806440" cy="5394960"/>
          </a:xfrm>
          <a:prstGeom prst="rect">
            <a:avLst/>
          </a:prstGeom>
          <a:solidFill>
            <a:srgbClr val="162B40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26187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C00"/>
                </a:solidFill>
              </a:rPr>
              <a:t>Workload 2: glia_prefix_heavy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160020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DEE"/>
                </a:solidFill>
              </a:rPr>
              <a:t>Prefix-heavy traffic — 85 QPS, 1500 requests, 6 prefix groups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993392"/>
            <a:ext cx="5486400" cy="713232"/>
          </a:xfrm>
          <a:prstGeom prst="rect">
            <a:avLst/>
          </a:prstGeom>
          <a:solidFill>
            <a:srgbClr val="102235"/>
          </a:solidFill>
          <a:ln w="1016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11112" y="203911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Group A (45%)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11112" y="2295144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2FF"/>
                </a:solidFill>
              </a:rPr>
              <a:t>14,336-token shared prefix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203911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DEE"/>
                </a:solidFill>
              </a:rPr>
              <a:t>Dominant group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2816352"/>
            <a:ext cx="5486400" cy="713232"/>
          </a:xfrm>
          <a:prstGeom prst="rect">
            <a:avLst/>
          </a:prstGeom>
          <a:solidFill>
            <a:srgbClr val="102235"/>
          </a:solidFill>
          <a:ln w="1016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11112" y="286207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Groups B–E (8–18% each)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11112" y="3118104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D700"/>
                </a:solidFill>
              </a:rPr>
              <a:t>14,336-token shared prefixes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400" y="286207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DEE"/>
                </a:solidFill>
              </a:rPr>
              <a:t>Medium groups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3639312"/>
            <a:ext cx="5486400" cy="713232"/>
          </a:xfrm>
          <a:prstGeom prst="rect">
            <a:avLst/>
          </a:prstGeom>
          <a:solidFill>
            <a:srgbClr val="102235"/>
          </a:solidFill>
          <a:ln w="1016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11112" y="368503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Group F (7%)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11112" y="3941064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8C00"/>
                </a:solidFill>
              </a:rPr>
              <a:t>No shared prefix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15400" y="368503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DEE"/>
                </a:solidFill>
              </a:rPr>
              <a:t>No cache benefit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610819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8C00"/>
                </a:solidFill>
              </a:rPr>
              <a:t>💡 Tests: Prefix locality vs load balance. Hotspotting risk if routing ignores load.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2FF"/>
                </a:solidFill>
              </a:rPr>
              <a:t>How We Score Each Router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EE"/>
                </a:solidFill>
              </a:rPr>
              <a:t>Minimize latency across both workloads and both random seeds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430000" cy="2743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698480" cy="1005840"/>
          </a:xfrm>
          <a:prstGeom prst="rect">
            <a:avLst/>
          </a:prstGeom>
          <a:solidFill>
            <a:srgbClr val="082010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CC71"/>
                </a:solidFill>
              </a:rPr>
              <a:t>score  =  0.5 × E2E_mean  +  0.5 × E2E_P95   (per workload, then averaged)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377440"/>
            <a:ext cx="3822191" cy="3474720"/>
          </a:xfrm>
          <a:prstGeom prst="rect">
            <a:avLst/>
          </a:prstGeom>
          <a:solidFill>
            <a:srgbClr val="162B40"/>
          </a:solidFill>
          <a:ln w="1905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45059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E2E Mean Latency  (50%)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07792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Average end-to-end latency per 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55264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across all completed requests.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02736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5020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Lower = better. Normalized per workload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97680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then combined as mean improvement.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45152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→ Rewards overall throughput quality.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9392" y="2377440"/>
            <a:ext cx="3822191" cy="3474720"/>
          </a:xfrm>
          <a:prstGeom prst="rect">
            <a:avLst/>
          </a:prstGeom>
          <a:solidFill>
            <a:srgbClr val="162B40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245059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700"/>
                </a:solidFill>
              </a:rPr>
              <a:t>E2E P95 Latency  (50%)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2907792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95th percentile end-to-end latency.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3255264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3602736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Lower = better. Captures tail behaviour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2" y="395020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— important for real-time and interactive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6552" y="4297680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SLO tiers that care about worst-case.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6552" y="4645152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→ Penalizes hotspot-induced outliers.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38744" y="2377440"/>
            <a:ext cx="3822191" cy="3474720"/>
          </a:xfrm>
          <a:prstGeom prst="rect">
            <a:avLst/>
          </a:prstGeom>
          <a:solidFill>
            <a:srgbClr val="162B40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75904" y="245059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C00"/>
                </a:solidFill>
              </a:rPr>
              <a:t>Baseline Normalisation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75904" y="2907792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All scores expressed as % improvement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75904" y="3255264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vs 1:1 (50/50 prefix-affinity + load-balance).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75904" y="3602736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75904" y="395020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1:1 is the 'sensible default' hand-tuned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75904" y="4297680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by engineers — a strong baseline.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75904" y="4645152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→ +11.5% means 11.5% less latency.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989320"/>
            <a:ext cx="11521440" cy="621792"/>
          </a:xfrm>
          <a:prstGeom prst="rect">
            <a:avLst/>
          </a:prstGeom>
          <a:solidFill>
            <a:srgbClr val="102210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00760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Baselines ranked (vs 1:1):   LLQ = −61.0%   |   Glia = −14.3%   |   3:2:2 = −0.7%   |   1:1 = 0% (control)   |   Evolved = +11.5%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2FF"/>
                </a:solidFill>
              </a:rPr>
              <a:t>System Prompt &amp; LLM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EE"/>
                </a:solidFill>
              </a:rPr>
              <a:t>What we tell the LLM — and what we leave to discovery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430000" cy="2743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Models Used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64208"/>
            <a:ext cx="4114800" cy="1051560"/>
          </a:xfrm>
          <a:prstGeom prst="rect">
            <a:avLst/>
          </a:prstGeom>
          <a:solidFill>
            <a:srgbClr val="162B40"/>
          </a:solidFill>
          <a:ln w="1905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Claude Sonnet 4.5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8483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Weight: 70%  •  Primary search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5915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AACC"/>
                </a:solidFill>
              </a:rPr>
              <a:t>Temp 1.0  •  Max 32k tokens  •  120s timeout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898648"/>
            <a:ext cx="4114800" cy="1051560"/>
          </a:xfrm>
          <a:prstGeom prst="rect">
            <a:avLst/>
          </a:prstGeom>
          <a:solidFill>
            <a:srgbClr val="162B40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9718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700"/>
                </a:solidFill>
              </a:rPr>
              <a:t>Claude Opus 4.5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1927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Weight: 30%  •  Occasional deep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93591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AACC"/>
                </a:solidFill>
              </a:rPr>
              <a:t>Temp 1.0  •  Max 32k tokens  •  120s timeout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977639"/>
            <a:ext cx="1298448" cy="475488"/>
          </a:xfrm>
          <a:prstGeom prst="rect">
            <a:avLst/>
          </a:prstGeom>
          <a:solidFill>
            <a:srgbClr val="102238"/>
          </a:solidFill>
          <a:ln w="1016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986784"/>
            <a:ext cx="12984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DEE"/>
                </a:solidFill>
              </a:rPr>
              <a:t>Temperature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187952"/>
            <a:ext cx="12984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2FF"/>
                </a:solidFill>
              </a:rPr>
              <a:t>1.0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55648" y="3977639"/>
            <a:ext cx="1298448" cy="475488"/>
          </a:xfrm>
          <a:prstGeom prst="rect">
            <a:avLst/>
          </a:prstGeom>
          <a:solidFill>
            <a:srgbClr val="102238"/>
          </a:solidFill>
          <a:ln w="1016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55648" y="3986784"/>
            <a:ext cx="12984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DEE"/>
                </a:solidFill>
              </a:rPr>
              <a:t>Max tokens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55648" y="4187952"/>
            <a:ext cx="12984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2FF"/>
                </a:solidFill>
              </a:rPr>
              <a:t>32,000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45536" y="3977639"/>
            <a:ext cx="1298448" cy="475488"/>
          </a:xfrm>
          <a:prstGeom prst="rect">
            <a:avLst/>
          </a:prstGeom>
          <a:solidFill>
            <a:srgbClr val="102238"/>
          </a:solidFill>
          <a:ln w="1016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45536" y="3986784"/>
            <a:ext cx="12984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DEE"/>
                </a:solidFill>
              </a:rPr>
              <a:t>Timeout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45536" y="4187952"/>
            <a:ext cx="12984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2FF"/>
                </a:solidFill>
              </a:rPr>
              <a:t>120s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1234440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System Prompt  — what's IN and what's 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166420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✅  Included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202996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• Cluster setup: 4 instances, model, hardware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243230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• Available signals + their freshness (fresh vs ~5s stale)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283464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• Scorer pipeline API (prefix-affinity, load-balance weights)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323697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• Workload descriptions + scoring formula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363931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• Baseline comparison table (LLQ, Glia, 1:1 scores)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404164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• Compilation rules (valid Go, must compile cleanly)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166420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D4D"/>
                </a:solidFill>
              </a:rPr>
              <a:t>🚫  Deliberately left to LLM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2029968"/>
            <a:ext cx="3566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• Which signals to combine or prioritize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2505456"/>
            <a:ext cx="3566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• Decay functions or adaptive weights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2980944"/>
            <a:ext cx="3566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• How to handle KV pressure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3456432"/>
            <a:ext cx="3566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• Whether to use stateful logic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54880" y="4434840"/>
            <a:ext cx="7132320" cy="1417320"/>
          </a:xfrm>
          <a:prstGeom prst="rect">
            <a:avLst/>
          </a:prstGeom>
          <a:solidFill>
            <a:srgbClr val="0A2010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92040" y="4480560"/>
            <a:ext cx="6858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Design Insight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2040" y="4828032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• Freshness matters: InFlightRequests is synchronous, KVUtil is 5s stale
• LLM must discover when to trust each signal
• Tension: prefix locality vs hot-instance overload
• No hints given — LLM must find the right balance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2FF"/>
                </a:solidFill>
              </a:rPr>
              <a:t>How SkyDiscover Searches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EE"/>
                </a:solidFill>
              </a:rPr>
              <a:t>OpenEvolve: island-based evolutionary search with LLM mutations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430000" cy="2743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1965960" cy="1463040"/>
          </a:xfrm>
          <a:prstGeom prst="rect">
            <a:avLst/>
          </a:prstGeom>
          <a:solidFill>
            <a:srgbClr val="162B40"/>
          </a:solidFill>
          <a:ln w="1905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126187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C2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600200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Initial
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207568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1:1 weighted
EVOLVE-BLOCK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31720" y="1965960"/>
            <a:ext cx="320040" cy="0"/>
          </a:xfrm>
          <a:prstGeom prst="line">
            <a:avLst/>
          </a:prstGeom>
          <a:ln w="2540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651760" y="1234440"/>
            <a:ext cx="1965960" cy="1463040"/>
          </a:xfrm>
          <a:prstGeom prst="rect">
            <a:avLst/>
          </a:prstGeom>
          <a:solidFill>
            <a:srgbClr val="162B40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4912" y="126187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D700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912" y="1600200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LLM
Mutation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24912" y="207568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Sonnet 4.5 (70%)
Opus 4.5 (30%)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617720" y="1965960"/>
            <a:ext cx="320040" cy="0"/>
          </a:xfrm>
          <a:prstGeom prst="line">
            <a:avLst/>
          </a:prstGeom>
          <a:ln w="2540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937760" y="1234440"/>
            <a:ext cx="1965960" cy="1463040"/>
          </a:xfrm>
          <a:prstGeom prst="rect">
            <a:avLst/>
          </a:prstGeom>
          <a:solidFill>
            <a:srgbClr val="162B40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10912" y="126187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8C00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10912" y="1600200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Go Build
&amp; Run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10912" y="207568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2 workloads
× 2 seeds = 4 sims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903720" y="1965960"/>
            <a:ext cx="320040" cy="0"/>
          </a:xfrm>
          <a:prstGeom prst="line">
            <a:avLst/>
          </a:prstGeom>
          <a:ln w="2540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223760" y="1234440"/>
            <a:ext cx="1965960" cy="1463040"/>
          </a:xfrm>
          <a:prstGeom prst="rect">
            <a:avLst/>
          </a:prstGeom>
          <a:solidFill>
            <a:srgbClr val="162B40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96912" y="126187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CC71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96912" y="1600200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Score
&amp; Rank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96912" y="207568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E2E + P95
vs 1:1 baseline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189720" y="1965960"/>
            <a:ext cx="320040" cy="0"/>
          </a:xfrm>
          <a:prstGeom prst="line">
            <a:avLst/>
          </a:prstGeom>
          <a:ln w="25400">
            <a:solidFill>
              <a:srgbClr val="00C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9509760" y="1234440"/>
            <a:ext cx="1965960" cy="1463040"/>
          </a:xfrm>
          <a:prstGeom prst="rect">
            <a:avLst/>
          </a:prstGeom>
          <a:solidFill>
            <a:srgbClr val="162B40"/>
          </a:solidFill>
          <a:ln w="1905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82912" y="126187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C2FF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82912" y="1600200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Island
Database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82912" y="207568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MAP-Elites
5 islands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82912" y="25786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C2FF"/>
                </a:solidFill>
              </a:rPr>
              <a:t>↺ repeat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29718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Score Progression (50 iterations, % improvement vs 1:1)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401568"/>
            <a:ext cx="6583680" cy="2560320"/>
          </a:xfrm>
          <a:prstGeom prst="rect">
            <a:avLst/>
          </a:prstGeom>
          <a:solidFill>
            <a:srgbClr val="081420"/>
          </a:solidFill>
          <a:ln w="1270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-228600" y="583387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DEE"/>
                </a:solidFill>
              </a:rPr>
              <a:t>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961888"/>
            <a:ext cx="6583680" cy="9144"/>
          </a:xfrm>
          <a:prstGeom prst="rect">
            <a:avLst/>
          </a:prstGeom>
          <a:solidFill>
            <a:srgbClr val="22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-228600" y="5046081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DEE"/>
                </a:solidFill>
              </a:rPr>
              <a:t>4%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174097"/>
            <a:ext cx="6583680" cy="9144"/>
          </a:xfrm>
          <a:prstGeom prst="rect">
            <a:avLst/>
          </a:prstGeom>
          <a:solidFill>
            <a:srgbClr val="22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-228600" y="425829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DEE"/>
                </a:solidFill>
              </a:rPr>
              <a:t>8%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386306"/>
            <a:ext cx="6583680" cy="9144"/>
          </a:xfrm>
          <a:prstGeom prst="rect">
            <a:avLst/>
          </a:prstGeom>
          <a:solidFill>
            <a:srgbClr val="22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-228600" y="3568973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DDEE"/>
                </a:solidFill>
              </a:rPr>
              <a:t>11.5%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3696989"/>
            <a:ext cx="6583680" cy="9144"/>
          </a:xfrm>
          <a:prstGeom prst="rect">
            <a:avLst/>
          </a:prstGeom>
          <a:solidFill>
            <a:srgbClr val="22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5760" y="5961888"/>
            <a:ext cx="6583680" cy="27432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95160" y="5852159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4D4D"/>
                </a:solidFill>
              </a:rPr>
              <a:t>1:1 baseline  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3704867"/>
            <a:ext cx="6583680" cy="2743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95160" y="3595139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CC71"/>
                </a:solidFill>
              </a:rPr>
              <a:t>best  +11.5%</a:t>
            </a:r>
          </a:p>
        </p:txBody>
      </p:sp>
      <p:sp>
        <p:nvSpPr>
          <p:cNvPr id="44" name="Oval 43"/>
          <p:cNvSpPr/>
          <p:nvPr/>
        </p:nvSpPr>
        <p:spPr>
          <a:xfrm>
            <a:off x="292608" y="5888736"/>
            <a:ext cx="146304" cy="146304"/>
          </a:xfrm>
          <a:prstGeom prst="ellipse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5705855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4D4D"/>
                </a:solidFill>
              </a:rPr>
              <a:t>iter 0</a:t>
            </a:r>
          </a:p>
        </p:txBody>
      </p:sp>
      <p:sp>
        <p:nvSpPr>
          <p:cNvPr id="46" name="Oval 45"/>
          <p:cNvSpPr/>
          <p:nvPr/>
        </p:nvSpPr>
        <p:spPr>
          <a:xfrm>
            <a:off x="424281" y="4474651"/>
            <a:ext cx="146304" cy="146304"/>
          </a:xfrm>
          <a:prstGeom prst="ellipse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8873" y="4291771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C2FF"/>
                </a:solidFill>
              </a:rPr>
              <a:t>iter 1</a:t>
            </a:r>
          </a:p>
        </p:txBody>
      </p:sp>
      <p:sp>
        <p:nvSpPr>
          <p:cNvPr id="48" name="Oval 47"/>
          <p:cNvSpPr/>
          <p:nvPr/>
        </p:nvSpPr>
        <p:spPr>
          <a:xfrm>
            <a:off x="555955" y="3789273"/>
            <a:ext cx="146304" cy="146304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0547" y="3606393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700"/>
                </a:solidFill>
              </a:rPr>
              <a:t>iter 2</a:t>
            </a:r>
          </a:p>
        </p:txBody>
      </p:sp>
      <p:sp>
        <p:nvSpPr>
          <p:cNvPr id="50" name="Oval 49"/>
          <p:cNvSpPr/>
          <p:nvPr/>
        </p:nvSpPr>
        <p:spPr>
          <a:xfrm>
            <a:off x="2399385" y="3631715"/>
            <a:ext cx="146304" cy="146304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563977" y="3448835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CC71"/>
                </a:solidFill>
              </a:rPr>
              <a:t>iter 16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0" y="2971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Search Facts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0" y="340156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D700"/>
                </a:solidFill>
              </a:rPr>
              <a:t>50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0" y="340156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iterations  (31.8 min total)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0" y="382219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D700"/>
                </a:solidFill>
              </a:rPr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0" y="382219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build errors  (100% compile rate)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0" y="4242816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D700"/>
                </a:solidFill>
              </a:rPr>
              <a:t>iter 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86800" y="424281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+7.2%  first attempt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0" y="46634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D700"/>
                </a:solidFill>
              </a:rPr>
              <a:t>iter 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86800" y="4663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+10.7%  major gain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15200" y="5084064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D700"/>
                </a:solidFill>
              </a:rPr>
              <a:t>iter 16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86800" y="5084064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final best  +11.5%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0" y="55046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D700"/>
                </a:solidFill>
              </a:rPr>
              <a:t>~38s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86800" y="550468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per iteration  (2 wl × 2 seeds)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2FF"/>
                </a:solidFill>
              </a:rPr>
              <a:t>What the LLM Discovered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EE"/>
                </a:solidFill>
              </a:rPr>
              <a:t>Adaptive prefix-affinity router — found at iteration 16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430000" cy="2743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Discovered Algorithm  (best_program.go, iter 16)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27632"/>
            <a:ext cx="6217920" cy="5029200"/>
          </a:xfrm>
          <a:prstGeom prst="rect">
            <a:avLst/>
          </a:prstGeom>
          <a:solidFill>
            <a:srgbClr val="081420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DEE"/>
                </a:solidFill>
              </a:rPr>
              <a:t>// Run all scorers (prefix-affinity, load-balance)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20824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D700"/>
                </a:solidFill>
              </a:rPr>
              <a:t>allDimScores[i] = scorer(req, snapshots)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5856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9631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DEE"/>
                </a:solidFill>
              </a:rPr>
              <a:t>// Find best prefix-affinity instance + 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34056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D700"/>
                </a:solidFill>
              </a:rPr>
              <a:t>bestPrefixID = argmax(allDimScores[0])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97180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cachedLoad = snapshots[bestPrefixID].InFlightRequests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209544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delta = cachedLoad - minInflight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44728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8503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DEE"/>
                </a:solidFill>
              </a:rPr>
              <a:t>// Decay prefix weight when cached instance is hot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922776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8C00"/>
                </a:solidFill>
              </a:rPr>
              <a:t>if delta &gt; 0: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16052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8C00"/>
                </a:solidFill>
              </a:rPr>
              <a:t>  decay = 1 / (1 + 0.6 * delta)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398264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8C00"/>
                </a:solidFill>
              </a:rPr>
              <a:t>  aw[prefix] = weight[prefix] * decay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360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8C00"/>
                </a:solidFill>
              </a:rPr>
              <a:t>  aw[load]   = 1.0 - aw[prefix]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87375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111496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DEE"/>
                </a:solidFill>
              </a:rPr>
              <a:t>// KV pressure penalty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34924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4D4D"/>
                </a:solidFill>
              </a:rPr>
              <a:t>if KVUtil &gt; 0.9: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586984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4D4D"/>
                </a:solidFill>
              </a:rPr>
              <a:t>  score -= 0.5 * (KVUtil - 0.9) / 0.1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82472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06247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DEE"/>
                </a:solidFill>
              </a:rPr>
              <a:t>// Fresh load tiebreaker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300216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ECC71"/>
                </a:solidFill>
              </a:rPr>
              <a:t>score += 0.01 / (1 + InFlightRequests)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2344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Key Innovations vs 1:1 Baseline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1664208"/>
            <a:ext cx="5120640" cy="1115568"/>
          </a:xfrm>
          <a:prstGeom prst="rect">
            <a:avLst/>
          </a:prstGeom>
          <a:solidFill>
            <a:srgbClr val="162B40"/>
          </a:solidFill>
          <a:ln w="1524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5160" y="17373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00"/>
                </a:solidFill>
              </a:rPr>
              <a:t>Adaptive prefix-affinity decay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2066544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When the best-cache instance is overloaded,
decay = 1/(1 + 0.6 × load_delta) reduces
its weight. Prevents cache hotspotting.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2926080"/>
            <a:ext cx="5120640" cy="1115568"/>
          </a:xfrm>
          <a:prstGeom prst="rect">
            <a:avLst/>
          </a:prstGeom>
          <a:solidFill>
            <a:srgbClr val="162B40"/>
          </a:solidFill>
          <a:ln w="1524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95160" y="299923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D4D"/>
                </a:solidFill>
              </a:rPr>
              <a:t>KV pressure penalty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3328416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Instance with KVUtil &gt; 90% is penalized
by −0.5 × (KVUtil − 0.9) / 0.1.
Avoids memory pressure before preemption.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4187952"/>
            <a:ext cx="5120640" cy="1115568"/>
          </a:xfrm>
          <a:prstGeom prst="rect">
            <a:avLst/>
          </a:prstGeom>
          <a:solidFill>
            <a:srgbClr val="162B40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95160" y="426110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Fresh load tiebreaker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4590288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Adds +0.01 / (1 + InFlightRequests).
Uses the freshest signal (per-request)
to break ties without waiting for Prometheus.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5449824"/>
            <a:ext cx="5120640" cy="1115568"/>
          </a:xfrm>
          <a:prstGeom prst="rect">
            <a:avLst/>
          </a:prstGeom>
          <a:solidFill>
            <a:srgbClr val="162B40"/>
          </a:solidFill>
          <a:ln w="1524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95160" y="552297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All signals are production-available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5160" y="585216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InFlightRequests: router-local (fresh).
KVUtilization: Prometheus (~5s stale).
Prefix scores: router LRU cache (fresh).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2FF"/>
                </a:solidFill>
              </a:rPr>
              <a:t>Results: Evolved vs All Baselines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EE"/>
                </a:solidFill>
              </a:rPr>
              <a:t>Experiment: 260312_50i_openevolve_v2wl  •  OpenEvolve  •  2 seeds  •  2 workloads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430000" cy="2743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4572000" cy="1691640"/>
          </a:xfrm>
          <a:prstGeom prst="rect">
            <a:avLst/>
          </a:prstGeom>
          <a:solidFill>
            <a:srgbClr val="162B40"/>
          </a:solidFill>
          <a:ln w="1905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4206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1:1 Baseline
(hand-tuned)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64208"/>
            <a:ext cx="4206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4D4D"/>
                </a:solidFill>
              </a:rPr>
              <a:t>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4206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</a:rPr>
              <a:t>Control — best before AI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1170432"/>
            <a:ext cx="4572000" cy="1691640"/>
          </a:xfrm>
          <a:prstGeom prst="rect">
            <a:avLst/>
          </a:prstGeom>
          <a:solidFill>
            <a:srgbClr val="162B40"/>
          </a:solidFill>
          <a:ln w="317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0" y="1234440"/>
            <a:ext cx="4206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DEE"/>
                </a:solidFill>
              </a:rPr>
              <a:t>Evolved
(iter 16)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1664208"/>
            <a:ext cx="4206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2ECC71"/>
                </a:solidFill>
              </a:rPr>
              <a:t>+11.5%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377440"/>
            <a:ext cx="4206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</a:rPr>
              <a:t>Best of 50 iterations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169164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00C2FF"/>
                </a:solidFill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6048" y="235915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ECC71"/>
                </a:solidFill>
              </a:rPr>
              <a:t>+11.5%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2944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Full Baseline Comparison  (lower E2E = better)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364992"/>
            <a:ext cx="1682495" cy="329184"/>
          </a:xfrm>
          <a:prstGeom prst="rect">
            <a:avLst/>
          </a:prstGeom>
          <a:solidFill>
            <a:srgbClr val="10253A"/>
          </a:solidFill>
          <a:ln w="1016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4" y="3383280"/>
            <a:ext cx="16276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2FF"/>
                </a:solidFill>
              </a:rPr>
              <a:t>Baseline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03120" y="3364992"/>
            <a:ext cx="1545336" cy="329184"/>
          </a:xfrm>
          <a:prstGeom prst="rect">
            <a:avLst/>
          </a:prstGeom>
          <a:solidFill>
            <a:srgbClr val="10253A"/>
          </a:solidFill>
          <a:ln w="1016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57984" y="3383280"/>
            <a:ext cx="1490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2FF"/>
                </a:solidFill>
              </a:rPr>
              <a:t>glia_40qps E2E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49039" y="3364992"/>
            <a:ext cx="1545336" cy="329184"/>
          </a:xfrm>
          <a:prstGeom prst="rect">
            <a:avLst/>
          </a:prstGeom>
          <a:solidFill>
            <a:srgbClr val="10253A"/>
          </a:solidFill>
          <a:ln w="1016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03903" y="3383280"/>
            <a:ext cx="1490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2FF"/>
                </a:solidFill>
              </a:rPr>
              <a:t>glia_40qps P95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94960" y="3364992"/>
            <a:ext cx="1865376" cy="329184"/>
          </a:xfrm>
          <a:prstGeom prst="rect">
            <a:avLst/>
          </a:prstGeom>
          <a:solidFill>
            <a:srgbClr val="10253A"/>
          </a:solidFill>
          <a:ln w="1016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49824" y="3383280"/>
            <a:ext cx="1810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2FF"/>
                </a:solidFill>
              </a:rPr>
              <a:t>prefix_heavy E2E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60920" y="3364992"/>
            <a:ext cx="2185416" cy="329184"/>
          </a:xfrm>
          <a:prstGeom prst="rect">
            <a:avLst/>
          </a:prstGeom>
          <a:solidFill>
            <a:srgbClr val="10253A"/>
          </a:solidFill>
          <a:ln w="1016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15784" y="3383280"/>
            <a:ext cx="2130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2FF"/>
                </a:solidFill>
              </a:rPr>
              <a:t>prefix_heavy P95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46920" y="3364992"/>
            <a:ext cx="1499616" cy="329184"/>
          </a:xfrm>
          <a:prstGeom prst="rect">
            <a:avLst/>
          </a:prstGeom>
          <a:solidFill>
            <a:srgbClr val="10253A"/>
          </a:solidFill>
          <a:ln w="1016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01784" y="3383280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2FF"/>
                </a:solidFill>
              </a:rPr>
              <a:t>vs 1:1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739896"/>
            <a:ext cx="1682495" cy="402336"/>
          </a:xfrm>
          <a:prstGeom prst="rect">
            <a:avLst/>
          </a:prstGeom>
          <a:solidFill>
            <a:srgbClr val="300808"/>
          </a:solidFill>
          <a:ln w="5080">
            <a:solidFill>
              <a:srgbClr val="33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4904" y="3758184"/>
            <a:ext cx="16276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4D4D"/>
                </a:solidFill>
              </a:rPr>
              <a:t>LLQ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03120" y="3739896"/>
            <a:ext cx="1545336" cy="402336"/>
          </a:xfrm>
          <a:prstGeom prst="rect">
            <a:avLst/>
          </a:prstGeom>
          <a:solidFill>
            <a:srgbClr val="300808"/>
          </a:solidFill>
          <a:ln w="5080">
            <a:solidFill>
              <a:srgbClr val="33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57984" y="3758184"/>
            <a:ext cx="1490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6,357 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49039" y="3739896"/>
            <a:ext cx="1545336" cy="402336"/>
          </a:xfrm>
          <a:prstGeom prst="rect">
            <a:avLst/>
          </a:prstGeom>
          <a:solidFill>
            <a:srgbClr val="300808"/>
          </a:solidFill>
          <a:ln w="5080">
            <a:solidFill>
              <a:srgbClr val="33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03903" y="3758184"/>
            <a:ext cx="1490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25,400 ms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94960" y="3739896"/>
            <a:ext cx="1865376" cy="402336"/>
          </a:xfrm>
          <a:prstGeom prst="rect">
            <a:avLst/>
          </a:prstGeom>
          <a:solidFill>
            <a:srgbClr val="300808"/>
          </a:solidFill>
          <a:ln w="5080">
            <a:solidFill>
              <a:srgbClr val="33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49824" y="3758184"/>
            <a:ext cx="18105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1,300 ms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60920" y="3739896"/>
            <a:ext cx="2185416" cy="402336"/>
          </a:xfrm>
          <a:prstGeom prst="rect">
            <a:avLst/>
          </a:prstGeom>
          <a:solidFill>
            <a:srgbClr val="300808"/>
          </a:solidFill>
          <a:ln w="5080">
            <a:solidFill>
              <a:srgbClr val="33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15784" y="3758184"/>
            <a:ext cx="2130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2,600 ms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46920" y="3739896"/>
            <a:ext cx="1499616" cy="402336"/>
          </a:xfrm>
          <a:prstGeom prst="rect">
            <a:avLst/>
          </a:prstGeom>
          <a:solidFill>
            <a:srgbClr val="300808"/>
          </a:solidFill>
          <a:ln w="5080">
            <a:solidFill>
              <a:srgbClr val="33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01784" y="3758184"/>
            <a:ext cx="1444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4D4D"/>
                </a:solidFill>
              </a:rPr>
              <a:t>−61.0%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178808"/>
            <a:ext cx="1682495" cy="402336"/>
          </a:xfrm>
          <a:prstGeom prst="rect">
            <a:avLst/>
          </a:prstGeom>
          <a:solidFill>
            <a:srgbClr val="281808"/>
          </a:solidFill>
          <a:ln w="5080">
            <a:solidFill>
              <a:srgbClr val="33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4904" y="4197096"/>
            <a:ext cx="16276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8C00"/>
                </a:solidFill>
              </a:rPr>
              <a:t>Glia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03120" y="4178808"/>
            <a:ext cx="1545336" cy="402336"/>
          </a:xfrm>
          <a:prstGeom prst="rect">
            <a:avLst/>
          </a:prstGeom>
          <a:solidFill>
            <a:srgbClr val="281808"/>
          </a:solidFill>
          <a:ln w="5080">
            <a:solidFill>
              <a:srgbClr val="33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157984" y="4197096"/>
            <a:ext cx="1490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4,457 ms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749039" y="4178808"/>
            <a:ext cx="1545336" cy="402336"/>
          </a:xfrm>
          <a:prstGeom prst="rect">
            <a:avLst/>
          </a:prstGeom>
          <a:solidFill>
            <a:srgbClr val="281808"/>
          </a:solidFill>
          <a:ln w="5080">
            <a:solidFill>
              <a:srgbClr val="33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803903" y="4197096"/>
            <a:ext cx="1490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18,000 ms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94960" y="4178808"/>
            <a:ext cx="1865376" cy="402336"/>
          </a:xfrm>
          <a:prstGeom prst="rect">
            <a:avLst/>
          </a:prstGeom>
          <a:solidFill>
            <a:srgbClr val="281808"/>
          </a:solidFill>
          <a:ln w="5080">
            <a:solidFill>
              <a:srgbClr val="33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49824" y="4197096"/>
            <a:ext cx="18105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  880 ms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60920" y="4178808"/>
            <a:ext cx="2185416" cy="402336"/>
          </a:xfrm>
          <a:prstGeom prst="rect">
            <a:avLst/>
          </a:prstGeom>
          <a:solidFill>
            <a:srgbClr val="281808"/>
          </a:solidFill>
          <a:ln w="5080">
            <a:solidFill>
              <a:srgbClr val="33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15784" y="4197096"/>
            <a:ext cx="2130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1,760 ms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646920" y="4178808"/>
            <a:ext cx="1499616" cy="402336"/>
          </a:xfrm>
          <a:prstGeom prst="rect">
            <a:avLst/>
          </a:prstGeom>
          <a:solidFill>
            <a:srgbClr val="281808"/>
          </a:solidFill>
          <a:ln w="5080">
            <a:solidFill>
              <a:srgbClr val="33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701784" y="4197096"/>
            <a:ext cx="1444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8C00"/>
                </a:solidFill>
              </a:rPr>
              <a:t>−14.3%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4617720"/>
            <a:ext cx="1682495" cy="402336"/>
          </a:xfrm>
          <a:prstGeom prst="rect">
            <a:avLst/>
          </a:prstGeom>
          <a:solidFill>
            <a:srgbClr val="242408"/>
          </a:solidFill>
          <a:ln w="5080">
            <a:solidFill>
              <a:srgbClr val="33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4904" y="4636008"/>
            <a:ext cx="16276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D700"/>
                </a:solidFill>
              </a:rPr>
              <a:t>3:2:2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103120" y="4617720"/>
            <a:ext cx="1545336" cy="402336"/>
          </a:xfrm>
          <a:prstGeom prst="rect">
            <a:avLst/>
          </a:prstGeom>
          <a:solidFill>
            <a:srgbClr val="242408"/>
          </a:solidFill>
          <a:ln w="5080">
            <a:solidFill>
              <a:srgbClr val="33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157984" y="4636008"/>
            <a:ext cx="1490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4,311 ms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749039" y="4617720"/>
            <a:ext cx="1545336" cy="402336"/>
          </a:xfrm>
          <a:prstGeom prst="rect">
            <a:avLst/>
          </a:prstGeom>
          <a:solidFill>
            <a:srgbClr val="242408"/>
          </a:solidFill>
          <a:ln w="5080">
            <a:solidFill>
              <a:srgbClr val="33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803903" y="4636008"/>
            <a:ext cx="1490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17,300 ms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394960" y="4617720"/>
            <a:ext cx="1865376" cy="402336"/>
          </a:xfrm>
          <a:prstGeom prst="rect">
            <a:avLst/>
          </a:prstGeom>
          <a:solidFill>
            <a:srgbClr val="242408"/>
          </a:solidFill>
          <a:ln w="5080">
            <a:solidFill>
              <a:srgbClr val="33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49824" y="4636008"/>
            <a:ext cx="18105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  818 ms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360920" y="4617720"/>
            <a:ext cx="2185416" cy="402336"/>
          </a:xfrm>
          <a:prstGeom prst="rect">
            <a:avLst/>
          </a:prstGeom>
          <a:solidFill>
            <a:srgbClr val="242408"/>
          </a:solidFill>
          <a:ln w="5080">
            <a:solidFill>
              <a:srgbClr val="33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415784" y="4636008"/>
            <a:ext cx="2130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1,900 ms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646920" y="4617720"/>
            <a:ext cx="1499616" cy="402336"/>
          </a:xfrm>
          <a:prstGeom prst="rect">
            <a:avLst/>
          </a:prstGeom>
          <a:solidFill>
            <a:srgbClr val="242408"/>
          </a:solidFill>
          <a:ln w="5080">
            <a:solidFill>
              <a:srgbClr val="33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01784" y="4636008"/>
            <a:ext cx="1444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700"/>
                </a:solidFill>
              </a:rPr>
              <a:t> −0.7%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" y="5056631"/>
            <a:ext cx="1682495" cy="402336"/>
          </a:xfrm>
          <a:prstGeom prst="rect">
            <a:avLst/>
          </a:prstGeom>
          <a:solidFill>
            <a:srgbClr val="182838"/>
          </a:solidFill>
          <a:ln w="5080">
            <a:solidFill>
              <a:srgbClr val="33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74904" y="5074920"/>
            <a:ext cx="16276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EE"/>
                </a:solidFill>
              </a:rPr>
              <a:t>1:1  ★control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103120" y="5056631"/>
            <a:ext cx="1545336" cy="402336"/>
          </a:xfrm>
          <a:prstGeom prst="rect">
            <a:avLst/>
          </a:prstGeom>
          <a:solidFill>
            <a:srgbClr val="182838"/>
          </a:solidFill>
          <a:ln w="5080">
            <a:solidFill>
              <a:srgbClr val="33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57984" y="5074920"/>
            <a:ext cx="1490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4,314 ms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749039" y="5056631"/>
            <a:ext cx="1545336" cy="402336"/>
          </a:xfrm>
          <a:prstGeom prst="rect">
            <a:avLst/>
          </a:prstGeom>
          <a:solidFill>
            <a:srgbClr val="182838"/>
          </a:solidFill>
          <a:ln w="5080">
            <a:solidFill>
              <a:srgbClr val="33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803903" y="5074920"/>
            <a:ext cx="1490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17,241 ms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394960" y="5056631"/>
            <a:ext cx="1865376" cy="402336"/>
          </a:xfrm>
          <a:prstGeom prst="rect">
            <a:avLst/>
          </a:prstGeom>
          <a:solidFill>
            <a:srgbClr val="182838"/>
          </a:solidFill>
          <a:ln w="5080">
            <a:solidFill>
              <a:srgbClr val="33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449824" y="5074920"/>
            <a:ext cx="18105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  790 ms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360920" y="5056631"/>
            <a:ext cx="2185416" cy="402336"/>
          </a:xfrm>
          <a:prstGeom prst="rect">
            <a:avLst/>
          </a:prstGeom>
          <a:solidFill>
            <a:srgbClr val="182838"/>
          </a:solidFill>
          <a:ln w="5080">
            <a:solidFill>
              <a:srgbClr val="33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415784" y="5074920"/>
            <a:ext cx="2130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1,909 ms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646920" y="5056631"/>
            <a:ext cx="1499616" cy="402336"/>
          </a:xfrm>
          <a:prstGeom prst="rect">
            <a:avLst/>
          </a:prstGeom>
          <a:solidFill>
            <a:srgbClr val="182838"/>
          </a:solidFill>
          <a:ln w="5080">
            <a:solidFill>
              <a:srgbClr val="33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701784" y="5074920"/>
            <a:ext cx="1444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CDDEE"/>
                </a:solidFill>
              </a:rPr>
              <a:t>  0.0%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20040" y="5495544"/>
            <a:ext cx="1682495" cy="402336"/>
          </a:xfrm>
          <a:prstGeom prst="rect">
            <a:avLst/>
          </a:prstGeom>
          <a:solidFill>
            <a:srgbClr val="0A2510"/>
          </a:solidFill>
          <a:ln w="5080">
            <a:solidFill>
              <a:srgbClr val="33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74904" y="5513832"/>
            <a:ext cx="16276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CC71"/>
                </a:solidFill>
              </a:rPr>
              <a:t>Evolved  ✓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103120" y="5495544"/>
            <a:ext cx="1545336" cy="402336"/>
          </a:xfrm>
          <a:prstGeom prst="rect">
            <a:avLst/>
          </a:prstGeom>
          <a:solidFill>
            <a:srgbClr val="0A2510"/>
          </a:solidFill>
          <a:ln w="5080">
            <a:solidFill>
              <a:srgbClr val="33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57984" y="5513832"/>
            <a:ext cx="1490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4,303 ms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749039" y="5495544"/>
            <a:ext cx="1545336" cy="402336"/>
          </a:xfrm>
          <a:prstGeom prst="rect">
            <a:avLst/>
          </a:prstGeom>
          <a:solidFill>
            <a:srgbClr val="0A2510"/>
          </a:solidFill>
          <a:ln w="5080">
            <a:solidFill>
              <a:srgbClr val="33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803903" y="5513832"/>
            <a:ext cx="1490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16,813 ms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394960" y="5495544"/>
            <a:ext cx="1865376" cy="402336"/>
          </a:xfrm>
          <a:prstGeom prst="rect">
            <a:avLst/>
          </a:prstGeom>
          <a:solidFill>
            <a:srgbClr val="0A2510"/>
          </a:solidFill>
          <a:ln w="5080">
            <a:solidFill>
              <a:srgbClr val="33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449824" y="5513832"/>
            <a:ext cx="18105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  700 ms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360920" y="5495544"/>
            <a:ext cx="2185416" cy="402336"/>
          </a:xfrm>
          <a:prstGeom prst="rect">
            <a:avLst/>
          </a:prstGeom>
          <a:solidFill>
            <a:srgbClr val="0A2510"/>
          </a:solidFill>
          <a:ln w="5080">
            <a:solidFill>
              <a:srgbClr val="33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415784" y="5513832"/>
            <a:ext cx="2130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1,435 ms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646920" y="5495544"/>
            <a:ext cx="1499616" cy="402336"/>
          </a:xfrm>
          <a:prstGeom prst="rect">
            <a:avLst/>
          </a:prstGeom>
          <a:solidFill>
            <a:srgbClr val="0A2510"/>
          </a:solidFill>
          <a:ln w="5080">
            <a:solidFill>
              <a:srgbClr val="335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701784" y="5513832"/>
            <a:ext cx="1444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CC71"/>
                </a:solidFill>
              </a:rPr>
              <a:t>+11.5%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20040" y="5989320"/>
            <a:ext cx="11521440" cy="621792"/>
          </a:xfrm>
          <a:prstGeom prst="rect">
            <a:avLst/>
          </a:prstGeom>
          <a:solidFill>
            <a:srgbClr val="0A2210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57200" y="600760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Key insight: Gain is concentrated on prefix_heavy (+11.4% E2E, +24.8% P95). Adaptive prefix-affinity decay prevents hotspotting on cached instances. General traffic (glia_40qps) gains only +0.3% — load balance already works well there.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2FF"/>
                </a:solidFill>
              </a:rPr>
              <a:t>Does It Transfer to Real llm-d?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EE"/>
                </a:solidFill>
              </a:rPr>
              <a:t>Signal availability and deployment viability assessment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430000" cy="2743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207008"/>
            <a:ext cx="3794760" cy="2103120"/>
          </a:xfrm>
          <a:prstGeom prst="rect">
            <a:avLst/>
          </a:prstGeom>
          <a:solidFill>
            <a:srgbClr val="162B40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88920" y="1280160"/>
            <a:ext cx="1188720" cy="347472"/>
          </a:xfrm>
          <a:prstGeom prst="rect">
            <a:avLst/>
          </a:prstGeom>
          <a:solidFill>
            <a:srgbClr val="2ECC71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88920" y="1289304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HIGH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InFlightRequests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5564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PRIMARY load 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48256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Router-local counter, updated every request.
No Prometheus — zero staleness.
Direct drop-in to llm-d routing plugin.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207008"/>
            <a:ext cx="3794760" cy="2103120"/>
          </a:xfrm>
          <a:prstGeom prst="rect">
            <a:avLst/>
          </a:prstGeom>
          <a:solidFill>
            <a:srgbClr val="162B40"/>
          </a:solidFill>
          <a:ln w="1524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20840" y="1280160"/>
            <a:ext cx="1188720" cy="347472"/>
          </a:xfrm>
          <a:prstGeom prst="rect">
            <a:avLst/>
          </a:prstGeom>
          <a:solidFill>
            <a:srgbClr val="2ECC71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1289304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28016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FF"/>
                </a:solidFill>
              </a:rPr>
              <a:t>KVUtilization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75564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Memory pressure signal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048256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Prometheus metric, ~5s refresh cycle.
Used only for penalty when KVUtil &gt; 90%.
Tolerant of stale values — edge case only.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1207008"/>
            <a:ext cx="3794760" cy="2103120"/>
          </a:xfrm>
          <a:prstGeom prst="rect">
            <a:avLst/>
          </a:prstGeom>
          <a:solidFill>
            <a:srgbClr val="162B40"/>
          </a:solidFill>
          <a:ln w="1524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652759" y="1280160"/>
            <a:ext cx="1188720" cy="347472"/>
          </a:xfrm>
          <a:prstGeom prst="rect">
            <a:avLst/>
          </a:prstGeom>
          <a:solidFill>
            <a:srgbClr val="2ECC71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52759" y="1289304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128016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FF"/>
                </a:solidFill>
              </a:rPr>
              <a:t>Prefix-affinity
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175564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Cache locality signal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048256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Computed by router-local LRU cache index.
Fresh every request, zero Prometheus dep.
Available in llm-d natively.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538728"/>
            <a:ext cx="3794760" cy="2103120"/>
          </a:xfrm>
          <a:prstGeom prst="rect">
            <a:avLst/>
          </a:prstGeom>
          <a:solidFill>
            <a:srgbClr val="162B40"/>
          </a:solidFill>
          <a:ln w="1524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88920" y="3611880"/>
            <a:ext cx="1188720" cy="347472"/>
          </a:xfrm>
          <a:prstGeom prst="rect">
            <a:avLst/>
          </a:prstGeom>
          <a:solidFill>
            <a:srgbClr val="CCDDEE"/>
          </a:solidFill>
          <a:ln w="190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88920" y="3621024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N/A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61188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</a:rPr>
              <a:t>QueueDepth
BatchSize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08736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Load proxies (unused)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379976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Available via Prometheus (~5s stale).
Not used by the best evolved policy.
Present in initial program for LLM context.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51959" y="3538728"/>
            <a:ext cx="3794760" cy="2103120"/>
          </a:xfrm>
          <a:prstGeom prst="rect">
            <a:avLst/>
          </a:prstGeom>
          <a:solidFill>
            <a:srgbClr val="162B40"/>
          </a:solidFill>
          <a:ln w="1524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720840" y="3611880"/>
            <a:ext cx="1188720" cy="347472"/>
          </a:xfrm>
          <a:prstGeom prst="rect">
            <a:avLst/>
          </a:prstGeom>
          <a:solidFill>
            <a:srgbClr val="CCDDEE"/>
          </a:solidFill>
          <a:ln w="190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3621024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</a:rPr>
              <a:t>N/A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361188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DDEE"/>
                </a:solidFill>
              </a:rPr>
              <a:t>OutputTokens
CacheHitRate per-req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408736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Simulator-only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4379976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</a:rPr>
              <a:t>Not exposed in real llm-d router interface.
Best evolved policy does NOT use these.
Safe to ignore — no integration needed.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6053328"/>
            <a:ext cx="11521440" cy="548640"/>
          </a:xfrm>
          <a:prstGeom prst="rect">
            <a:avLst/>
          </a:prstGeom>
          <a:solidFill>
            <a:srgbClr val="0A2510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08076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✅  Deployment verdict: HIGH viability.  The best policy uses only InFlightRequests (router-local, fresh) + KVUtilization (Prometheus, stale-tolerant) + prefix scores (router-local, fresh). No simulator-only signals. Drop-in replacement for WeightedScoring.Route().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2FF"/>
                </a:solidFill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EE"/>
                </a:solidFill>
              </a:rPr>
              <a:t>What we set up, what was discovered, what it means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430000" cy="2743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207008"/>
            <a:ext cx="658368" cy="804672"/>
          </a:xfrm>
          <a:prstGeom prst="rect">
            <a:avLst/>
          </a:prstGeom>
          <a:solidFill>
            <a:srgbClr val="2ECC71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1371600"/>
            <a:ext cx="621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Setup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1207008"/>
            <a:ext cx="10835640" cy="804672"/>
          </a:xfrm>
          <a:prstGeom prst="rect">
            <a:avLst/>
          </a:prstGeom>
          <a:solidFill>
            <a:srgbClr val="162B40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1316736"/>
            <a:ext cx="10561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DEE"/>
                </a:solidFill>
              </a:rPr>
              <a:t>4-instance qwen2.5-7b cluster with two workloads: general bursty traffic (40 QPS) and prefix-heavy traffic (85 QPS, 6 shared-prefix groups). Score: mean of E2E and P95 latency improvement vs 1:1 baseline. Two seeds.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231136"/>
            <a:ext cx="658368" cy="804672"/>
          </a:xfrm>
          <a:prstGeom prst="rect">
            <a:avLst/>
          </a:prstGeom>
          <a:solidFill>
            <a:srgbClr val="00C2FF"/>
          </a:solidFill>
          <a:ln w="1905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2395728"/>
            <a:ext cx="621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Discovery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8" y="2231136"/>
            <a:ext cx="10835640" cy="804672"/>
          </a:xfrm>
          <a:prstGeom prst="rect">
            <a:avLst/>
          </a:prstGeom>
          <a:solidFill>
            <a:srgbClr val="162B40"/>
          </a:solidFill>
          <a:ln w="12700"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8" y="2340864"/>
            <a:ext cx="10561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DEE"/>
                </a:solidFill>
              </a:rPr>
              <a:t>OpenEvolve found an adaptive routing policy in 50 iterations (32 min). Core insight: decay prefix-affinity weight when the cached instance is overloaded, using InFlightRequests as a fresh load signal. Plus KV pressure penalty.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255264"/>
            <a:ext cx="658368" cy="804672"/>
          </a:xfrm>
          <a:prstGeom prst="rect">
            <a:avLst/>
          </a:prstGeom>
          <a:solidFill>
            <a:srgbClr val="FFD700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3419856"/>
            <a:ext cx="621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Gains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4128" y="3255264"/>
            <a:ext cx="10835640" cy="804672"/>
          </a:xfrm>
          <a:prstGeom prst="rect">
            <a:avLst/>
          </a:prstGeom>
          <a:solidFill>
            <a:srgbClr val="162B40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61288" y="3364992"/>
            <a:ext cx="10561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DEE"/>
                </a:solidFill>
              </a:rPr>
              <a:t>+11.5% vs best hand-tuned 1:1 baseline. +17.8% vs Glia. +42.0% vs LLQ (common default). Gains concentrated on prefix_heavy (+11.4% E2E, +24.8% P95). General traffic improves only slightly — load balance already works there.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279392"/>
            <a:ext cx="658368" cy="804672"/>
          </a:xfrm>
          <a:prstGeom prst="rect">
            <a:avLst/>
          </a:prstGeom>
          <a:solidFill>
            <a:srgbClr val="FF8C00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4443984"/>
            <a:ext cx="621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Why it works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128" y="4279392"/>
            <a:ext cx="10835640" cy="804672"/>
          </a:xfrm>
          <a:prstGeom prst="rect">
            <a:avLst/>
          </a:prstGeom>
          <a:solidFill>
            <a:srgbClr val="162B40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61288" y="4389120"/>
            <a:ext cx="10561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DEE"/>
                </a:solidFill>
              </a:rPr>
              <a:t>Naive 1:1 routing can hotspot the instance with best cache, causing queuing. The evolved policy detects this via InFlightRequests delta and redistributes load. KV penalty kicks in only at extreme memory pressure (&gt;90%) — a safety valve.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5303520"/>
            <a:ext cx="658368" cy="804672"/>
          </a:xfrm>
          <a:prstGeom prst="rect">
            <a:avLst/>
          </a:prstGeom>
          <a:solidFill>
            <a:srgbClr val="DD88FF"/>
          </a:solidFill>
          <a:ln w="19050">
            <a:solidFill>
              <a:srgbClr val="DD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" y="5468112"/>
            <a:ext cx="621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Next steps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4128" y="5303520"/>
            <a:ext cx="10835640" cy="804672"/>
          </a:xfrm>
          <a:prstGeom prst="rect">
            <a:avLst/>
          </a:prstGeom>
          <a:solidFill>
            <a:srgbClr val="162B40"/>
          </a:solidFill>
          <a:ln w="12700">
            <a:solidFill>
              <a:srgbClr val="DD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61288" y="5413248"/>
            <a:ext cx="10561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DEE"/>
                </a:solidFill>
              </a:rPr>
              <a:t>Validate on real llm-d with actual prefix cache hits. Test with more prefix groups and higher request rates. Explore joint router + admission co-evolution. Run with more iterations to see if &gt;11.5% is achievable.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